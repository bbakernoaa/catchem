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94694" autoAdjust="0"/>
  </p:normalViewPr>
  <p:slideViewPr>
    <p:cSldViewPr snapToGrid="0" snapToObjects="1">
      <p:cViewPr varScale="1">
        <p:scale>
          <a:sx n="136" d="100"/>
          <a:sy n="136" d="100"/>
        </p:scale>
        <p:origin x="200" y="5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CATChem NUOPC Interface: Earth System Model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🌍 What is NUOPC?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National Unified Operational Prediction Capability (NUOPC)</a:t>
            </a:r>
          </a:p>
          <a:p>
            <a:pPr lvl="0"/>
            <a:r>
              <a:rPr b="1"/>
              <a:t>Earth System Modeling Framework</a:t>
            </a:r>
            <a:r>
              <a:t>: Standard for coupling atmospheric, oceanic, land, and sea ice models</a:t>
            </a:r>
          </a:p>
          <a:p>
            <a:pPr lvl="0"/>
            <a:r>
              <a:rPr b="1"/>
              <a:t>ESMF-Based</a:t>
            </a:r>
            <a:r>
              <a:t>: Built on Earth System Modeling Framework for high-performance computing</a:t>
            </a:r>
          </a:p>
          <a:p>
            <a:pPr lvl="0"/>
            <a:r>
              <a:rPr b="1"/>
              <a:t>Operational Focus</a:t>
            </a:r>
            <a:r>
              <a:t>: Designed for 24/7 operational weather and climate prediction</a:t>
            </a:r>
          </a:p>
          <a:p>
            <a:pPr lvl="0"/>
            <a:r>
              <a:rPr b="1"/>
              <a:t>Multi-Agency Standard</a:t>
            </a:r>
            <a:r>
              <a:t>: Used by NOAA, NASA, Navy, Air Force, and international partners</a:t>
            </a:r>
          </a:p>
        </p:txBody>
      </p:sp>
      <p:pic>
        <p:nvPicPr>
          <p:cNvPr id="3" name="Picture 1" descr="diagrams/nuopc-architectu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NUOPC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🎯 CATChem NUOPC Integration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Seamless Earth System Coupling</a:t>
            </a:r>
          </a:p>
          <a:p>
            <a:pPr lvl="0"/>
            <a:r>
              <a:rPr b="1" dirty="0"/>
              <a:t>Plug-and-Play</a:t>
            </a:r>
            <a:r>
              <a:rPr dirty="0"/>
              <a:t>: Drop-in atmospheric chemistry component</a:t>
            </a:r>
          </a:p>
          <a:p>
            <a:pPr lvl="0"/>
            <a:r>
              <a:rPr b="1" dirty="0"/>
              <a:t>Standard Interfaces</a:t>
            </a:r>
            <a:r>
              <a:rPr dirty="0"/>
              <a:t>: NUOPC-compliant field exchange</a:t>
            </a:r>
          </a:p>
          <a:p>
            <a:pPr lvl="0"/>
            <a:r>
              <a:rPr b="1" dirty="0"/>
              <a:t>Scalable Performance</a:t>
            </a:r>
            <a:r>
              <a:rPr dirty="0"/>
              <a:t>: From development to operational scales</a:t>
            </a:r>
          </a:p>
          <a:p>
            <a:pPr lvl="0"/>
            <a:r>
              <a:rPr b="1" dirty="0"/>
              <a:t>Flexible Configuration</a:t>
            </a:r>
            <a:r>
              <a:rPr dirty="0"/>
              <a:t>: Adaptable to diverse modeling needs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Operational Readiness</a:t>
            </a:r>
          </a:p>
          <a:p>
            <a:pPr lvl="0"/>
            <a:r>
              <a:rPr b="1" dirty="0"/>
              <a:t>24/7 Production</a:t>
            </a:r>
            <a:r>
              <a:rPr dirty="0"/>
              <a:t>: Robust error handling and monitoring</a:t>
            </a:r>
          </a:p>
          <a:p>
            <a:pPr lvl="0"/>
            <a:r>
              <a:rPr b="1" dirty="0"/>
              <a:t>Real-time Constraints</a:t>
            </a:r>
            <a:r>
              <a:rPr dirty="0"/>
              <a:t>: Optimized for operational time windows</a:t>
            </a:r>
          </a:p>
          <a:p>
            <a:pPr lvl="0"/>
            <a:r>
              <a:rPr b="1" dirty="0"/>
              <a:t>Restart Capability</a:t>
            </a:r>
            <a:r>
              <a:rPr dirty="0"/>
              <a:t>: Seamless restart and recovery</a:t>
            </a:r>
          </a:p>
          <a:p>
            <a:pPr lvl="0"/>
            <a:r>
              <a:rPr b="1" dirty="0"/>
              <a:t>Quality Control</a:t>
            </a:r>
            <a:r>
              <a:rPr dirty="0"/>
              <a:t>: Built-in field validation and diagnostics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🔄 NUOPC Phases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65" y="994172"/>
            <a:ext cx="8229600" cy="3943349"/>
          </a:xfrm>
        </p:spPr>
        <p:txBody>
          <a:bodyPr>
            <a:normAutofit fontScale="3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Initialize Phase 1: Field Advertisement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subroutine</a:t>
            </a:r>
            <a:r>
              <a:rPr dirty="0">
                <a:latin typeface="Courier"/>
              </a:rPr>
              <a:t> InitializeP1(model, 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clock, 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! Advertise import fields (from atmosphere/land/ocean)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NUOPC_Advertise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007020"/>
                </a:solidFill>
                <a:latin typeface="Courier"/>
              </a:rPr>
              <a:t>&amp;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StandardName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air_temperature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NUOPC_Advertise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007020"/>
                </a:solidFill>
                <a:latin typeface="Courier"/>
              </a:rPr>
              <a:t>&amp;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StandardName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surface_air_pressure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NUOPC_Advertise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007020"/>
                </a:solidFill>
                <a:latin typeface="Courier"/>
              </a:rPr>
              <a:t>&amp;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StandardName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eastward_wind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! Advertise export fields (to other components)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NUOPC_Advertise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007020"/>
                </a:solidFill>
                <a:latin typeface="Courier"/>
              </a:rPr>
              <a:t>&amp;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StandardName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mass_fraction_of_ozone_in_air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NUOPC_Advertise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007020"/>
                </a:solidFill>
                <a:latin typeface="Courier"/>
              </a:rPr>
              <a:t>&amp;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StandardName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mass_fraction_of_carbon_monoxide_in_air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end subroutine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Initialize Phase 2: Model Setup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subroutine</a:t>
            </a:r>
            <a:r>
              <a:rPr dirty="0">
                <a:latin typeface="Courier"/>
              </a:rPr>
              <a:t> InitializeP2(model, 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clock, 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! Realize advertised fields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NUOPC_Realize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NUOPC_Realize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! Initialize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CATChem</a:t>
            </a:r>
            <a:r>
              <a:rPr i="1" dirty="0">
                <a:solidFill>
                  <a:srgbClr val="60A0B0"/>
                </a:solidFill>
                <a:latin typeface="Courier"/>
              </a:rPr>
              <a:t> model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catchem_init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config_file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catchem_states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! Set up field mappings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setup_field_mappings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importState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exportState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end subroutine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2C98B-DD19-9E82-AF01-23EFB6361B2D}"/>
              </a:ext>
            </a:extLst>
          </p:cNvPr>
          <p:cNvSpPr txBox="1"/>
          <p:nvPr/>
        </p:nvSpPr>
        <p:spPr>
          <a:xfrm>
            <a:off x="4572000" y="994173"/>
            <a:ext cx="457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200" b="1" dirty="0"/>
              <a:t>Run Phase: Chemistry Execution</a:t>
            </a:r>
          </a:p>
          <a:p>
            <a:pPr lvl="0" indent="0">
              <a:buNone/>
            </a:pPr>
            <a:r>
              <a:rPr lang="en-US" sz="1200" b="1" dirty="0">
                <a:solidFill>
                  <a:srgbClr val="007020"/>
                </a:solidFill>
                <a:latin typeface="Courier"/>
              </a:rPr>
              <a:t>subroutine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ModelAdvance</a:t>
            </a:r>
            <a:r>
              <a:rPr lang="en-US" sz="1200" dirty="0">
                <a:latin typeface="Courier"/>
              </a:rPr>
              <a:t>(model, </a:t>
            </a:r>
            <a:r>
              <a:rPr lang="en-US" sz="1200" dirty="0" err="1">
                <a:latin typeface="Courier"/>
              </a:rPr>
              <a:t>importState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exportState</a:t>
            </a:r>
            <a:r>
              <a:rPr lang="en-US" sz="1200" dirty="0">
                <a:latin typeface="Courier"/>
              </a:rPr>
              <a:t>, clock, </a:t>
            </a:r>
            <a:r>
              <a:rPr lang="en-US" sz="1200" dirty="0" err="1">
                <a:latin typeface="Courier"/>
              </a:rPr>
              <a:t>rc</a:t>
            </a:r>
            <a:r>
              <a:rPr lang="en-US" sz="1200" dirty="0">
                <a:latin typeface="Courier"/>
              </a:rPr>
              <a:t>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i="1" dirty="0">
                <a:solidFill>
                  <a:srgbClr val="60A0B0"/>
                </a:solidFill>
                <a:latin typeface="Courier"/>
              </a:rPr>
              <a:t>! Get current time and time step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ESMF_ClockGet</a:t>
            </a:r>
            <a:r>
              <a:rPr lang="en-US" sz="1200" dirty="0">
                <a:latin typeface="Courier"/>
              </a:rPr>
              <a:t>(clock, </a:t>
            </a:r>
            <a:r>
              <a:rPr lang="en-US" sz="1200" dirty="0" err="1">
                <a:latin typeface="Courier"/>
              </a:rPr>
              <a:t>currTime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=</a:t>
            </a:r>
            <a:r>
              <a:rPr lang="en-US" sz="1200" dirty="0" err="1">
                <a:latin typeface="Courier"/>
              </a:rPr>
              <a:t>currentTime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timeStep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=</a:t>
            </a:r>
            <a:r>
              <a:rPr lang="en-US" sz="1200" dirty="0" err="1">
                <a:latin typeface="Courier"/>
              </a:rPr>
              <a:t>timeStep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rc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=</a:t>
            </a:r>
            <a:r>
              <a:rPr lang="en-US" sz="1200" i="1" dirty="0" err="1">
                <a:solidFill>
                  <a:srgbClr val="60A0B0"/>
                </a:solidFill>
                <a:latin typeface="Courier"/>
              </a:rPr>
              <a:t>rc</a:t>
            </a:r>
            <a:r>
              <a:rPr lang="en-US" sz="1200" i="1" dirty="0">
                <a:solidFill>
                  <a:srgbClr val="60A0B0"/>
                </a:solidFill>
                <a:latin typeface="Courier"/>
              </a:rPr>
              <a:t>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i="1" dirty="0">
                <a:solidFill>
                  <a:srgbClr val="60A0B0"/>
                </a:solidFill>
                <a:latin typeface="Courier"/>
              </a:rPr>
              <a:t>! Import meteorological fields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import_met_fields</a:t>
            </a:r>
            <a:r>
              <a:rPr lang="en-US" sz="1200" dirty="0">
                <a:latin typeface="Courier"/>
              </a:rPr>
              <a:t>(</a:t>
            </a:r>
            <a:r>
              <a:rPr lang="en-US" sz="1200" dirty="0" err="1">
                <a:latin typeface="Courier"/>
              </a:rPr>
              <a:t>importState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catchem_states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rc</a:t>
            </a:r>
            <a:r>
              <a:rPr lang="en-US" sz="1200" dirty="0">
                <a:latin typeface="Courier"/>
              </a:rPr>
              <a:t>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i="1" dirty="0">
                <a:solidFill>
                  <a:srgbClr val="60A0B0"/>
                </a:solidFill>
                <a:latin typeface="Courier"/>
              </a:rPr>
              <a:t>! Run chemistry processes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catchem_run</a:t>
            </a:r>
            <a:r>
              <a:rPr lang="en-US" sz="1200" dirty="0">
                <a:latin typeface="Courier"/>
              </a:rPr>
              <a:t>(</a:t>
            </a:r>
            <a:r>
              <a:rPr lang="en-US" sz="1200" dirty="0" err="1">
                <a:latin typeface="Courier"/>
              </a:rPr>
              <a:t>catchem_states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timeStep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rc</a:t>
            </a:r>
            <a:r>
              <a:rPr lang="en-US" sz="1200" dirty="0">
                <a:latin typeface="Courier"/>
              </a:rPr>
              <a:t>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i="1" dirty="0">
                <a:solidFill>
                  <a:srgbClr val="60A0B0"/>
                </a:solidFill>
                <a:latin typeface="Courier"/>
              </a:rPr>
              <a:t>! Export chemical fields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</a:t>
            </a:r>
            <a:r>
              <a:rPr lang="en-US" sz="1200" b="1" dirty="0">
                <a:solidFill>
                  <a:srgbClr val="007020"/>
                </a:solidFill>
                <a:latin typeface="Courier"/>
              </a:rPr>
              <a:t>call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export_chem_fields</a:t>
            </a:r>
            <a:r>
              <a:rPr lang="en-US" sz="1200" dirty="0">
                <a:latin typeface="Courier"/>
              </a:rPr>
              <a:t>(</a:t>
            </a:r>
            <a:r>
              <a:rPr lang="en-US" sz="1200" dirty="0" err="1">
                <a:latin typeface="Courier"/>
              </a:rPr>
              <a:t>exportState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catchem_states</a:t>
            </a:r>
            <a:r>
              <a:rPr lang="en-US" sz="1200" dirty="0">
                <a:latin typeface="Courier"/>
              </a:rPr>
              <a:t>, </a:t>
            </a:r>
            <a:r>
              <a:rPr lang="en-US" sz="1200" dirty="0" err="1">
                <a:latin typeface="Courier"/>
              </a:rPr>
              <a:t>rc</a:t>
            </a:r>
            <a:r>
              <a:rPr lang="en-US" sz="1200" dirty="0">
                <a:latin typeface="Courier"/>
              </a:rPr>
              <a:t>)</a:t>
            </a:r>
            <a:br>
              <a:rPr lang="en-US" sz="1200" dirty="0"/>
            </a:br>
            <a:r>
              <a:rPr lang="en-US" sz="1200" b="1" dirty="0">
                <a:solidFill>
                  <a:srgbClr val="007020"/>
                </a:solidFill>
                <a:latin typeface="Courier"/>
              </a:rPr>
              <a:t>end subroutine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📊 Field Exchange Capabilities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Import Fields (Meteorological Inputs)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080000" cy="635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Standard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air_temperature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surface_air_pressure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Surface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eastward_wind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U-component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northward_wind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V-component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air_pressure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3D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specific_humidity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Water vapor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cloud_liquid_water_mixing_ratio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Cloud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precipitation_flux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Precipitation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kg/m²/s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surface_downwelling_shortwave_flux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Solar 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W/m²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friction_velocity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Surface friction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Export Fields (Chemical Outputs)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943716"/>
              </p:ext>
            </p:extLst>
          </p:nvPr>
        </p:nvGraphicFramePr>
        <p:xfrm>
          <a:off x="3568700" y="203200"/>
          <a:ext cx="510540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14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Standard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mass_fraction_of_ozone_in_air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Ozone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9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mass_fraction_of_carbon_monoxide_in_air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9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mass_fraction_of_nitrogen_dioxide_in_air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NO₂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97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mass_fraction_of_sulfur_dioxide_in_air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SO₂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38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mass_fraction_of_dust_dry_aerosol_particles_in_air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Dust aerosol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38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mass_fraction_of_sea_salt_dry_aerosol_particles_in_air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Sea salt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kg/kg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SeaSalt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5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dry_deposition_velocity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Deposition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DryDep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738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optical_thickness_of_atmosphere_layer_due_to_aerosol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Aerosol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⚙️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63228"/>
            <a:ext cx="9195847" cy="4023121"/>
          </a:xfrm>
        </p:spPr>
        <p:txBody>
          <a:bodyPr>
            <a:normAutofit fontScale="2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YAML-Based Configuration</a:t>
            </a:r>
          </a:p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CATChem_nuopc_config.yml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model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name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CATChem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version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"2.0"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time_step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3600</a:t>
            </a:r>
            <a:r>
              <a:rPr i="1" dirty="0">
                <a:solidFill>
                  <a:srgbClr val="60A0B0"/>
                </a:solidFill>
                <a:latin typeface="Courier"/>
              </a:rPr>
              <a:t>  # seconds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processes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dust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enabled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true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scheme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fengsha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seasalt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enabled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true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scheme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gocart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dry_deposition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enabled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true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  </a:t>
            </a:r>
            <a:r>
              <a:rPr dirty="0">
                <a:solidFill>
                  <a:srgbClr val="06287E"/>
                </a:solidFill>
                <a:latin typeface="Courier"/>
              </a:rPr>
              <a:t>scheme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wesely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grid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type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logically_rectangular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decomposition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"block"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output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frequency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3600</a:t>
            </a:r>
            <a:r>
              <a:rPr i="1" dirty="0">
                <a:solidFill>
                  <a:srgbClr val="60A0B0"/>
                </a:solidFill>
                <a:latin typeface="Courier"/>
              </a:rPr>
              <a:t>  # seconds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format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"netcdf4"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compression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true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Runtime Configuration</a:t>
            </a:r>
          </a:p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! Configure from NUOPC attributes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call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NUOPC_CompAttributeGet</a:t>
            </a:r>
            <a:r>
              <a:rPr i="1" dirty="0">
                <a:solidFill>
                  <a:srgbClr val="60A0B0"/>
                </a:solidFill>
                <a:latin typeface="Courier"/>
              </a:rPr>
              <a:t>(model, name="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config_file</a:t>
            </a:r>
            <a:r>
              <a:rPr i="1" dirty="0">
                <a:solidFill>
                  <a:srgbClr val="60A0B0"/>
                </a:solidFill>
                <a:latin typeface="Courier"/>
              </a:rPr>
              <a:t>", &amp;</a:t>
            </a:r>
            <a:br>
              <a:rPr dirty="0"/>
            </a:br>
            <a:r>
              <a:rPr dirty="0">
                <a:latin typeface="Courier"/>
              </a:rPr>
              <a:t>  value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config_file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call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NUOPC_CompAttributeGet</a:t>
            </a:r>
            <a:r>
              <a:rPr i="1" dirty="0">
                <a:solidFill>
                  <a:srgbClr val="60A0B0"/>
                </a:solidFill>
                <a:latin typeface="Courier"/>
              </a:rPr>
              <a:t>(model, name="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chemistry_scheme</a:t>
            </a:r>
            <a:r>
              <a:rPr i="1" dirty="0">
                <a:solidFill>
                  <a:srgbClr val="60A0B0"/>
                </a:solidFill>
                <a:latin typeface="Courier"/>
              </a:rPr>
              <a:t>", &amp;</a:t>
            </a:r>
            <a:br>
              <a:rPr dirty="0"/>
            </a:br>
            <a:r>
              <a:rPr dirty="0">
                <a:latin typeface="Courier"/>
              </a:rPr>
              <a:t>  value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chem_scheme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call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NUOPC_CompAttributeGet</a:t>
            </a:r>
            <a:r>
              <a:rPr i="1" dirty="0">
                <a:solidFill>
                  <a:srgbClr val="60A0B0"/>
                </a:solidFill>
                <a:latin typeface="Courier"/>
              </a:rPr>
              <a:t>(model, name="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time_step</a:t>
            </a:r>
            <a:r>
              <a:rPr i="1" dirty="0">
                <a:solidFill>
                  <a:srgbClr val="60A0B0"/>
                </a:solidFill>
                <a:latin typeface="Courier"/>
              </a:rPr>
              <a:t>", &amp;</a:t>
            </a:r>
            <a:br>
              <a:rPr dirty="0"/>
            </a:br>
            <a:r>
              <a:rPr dirty="0">
                <a:latin typeface="Courier"/>
              </a:rPr>
              <a:t>  value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time_step_str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rc</a:t>
            </a:r>
            <a:r>
              <a:rPr b="1"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rc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🌐 Grid and Regridding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Supported Grid Types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Grid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Logically Rectangular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Regular lat-lon grids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Global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Cubed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FV3 native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UFS/GFS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Unstructured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Irregular meshes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MPAS, ICON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Spectral model grids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Legacy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1114</Words>
  <Application>Microsoft Macintosh PowerPoint</Application>
  <PresentationFormat>On-screen Show (16:9)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</vt:lpstr>
      <vt:lpstr>Office Theme</vt:lpstr>
      <vt:lpstr>CATChem NUOPC Interface: Earth System Model Integration</vt:lpstr>
      <vt:lpstr>🌍 What is NUOPC?</vt:lpstr>
      <vt:lpstr>🎯 CATChem NUOPC Integration Goals</vt:lpstr>
      <vt:lpstr>🔄 NUOPC Phases Implementation</vt:lpstr>
      <vt:lpstr>📊 Field Exchange Capabilities</vt:lpstr>
      <vt:lpstr>PowerPoint Presentation</vt:lpstr>
      <vt:lpstr>⚙️ Configuration Management</vt:lpstr>
      <vt:lpstr>🌐 Grid and Regridding Support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CATChem NUOPC Interface: Earth System Model Integration</dc:title>
  <dc:creator/>
  <cp:keywords/>
  <cp:lastModifiedBy>Microsoft Office User</cp:lastModifiedBy>
  <cp:revision>2</cp:revision>
  <dcterms:created xsi:type="dcterms:W3CDTF">2025-06-23T15:11:14Z</dcterms:created>
  <dcterms:modified xsi:type="dcterms:W3CDTF">2025-06-23T19:28:20Z</dcterms:modified>
</cp:coreProperties>
</file>