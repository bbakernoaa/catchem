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atchem.readthedocs.io" TargetMode="External" /><Relationship Id="rId3" Type="http://schemas.openxmlformats.org/officeDocument/2006/relationships/hyperlink" Target="https://github.com/CATChem/cc_restructure" TargetMode="Externa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CATChem: Community Atmospheric Transport Chemistry Model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Modern Architecture for Atmospheric Science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CATChem?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Community-driven</a:t>
            </a:r>
            <a:r>
              <a:rPr/>
              <a:t> atmospheric chemistry transport model</a:t>
            </a:r>
          </a:p>
          <a:p>
            <a:pPr lvl="0"/>
            <a:r>
              <a:rPr b="1"/>
              <a:t>Open source</a:t>
            </a:r>
            <a:r>
              <a:rPr/>
              <a:t> with modern software engineering practices</a:t>
            </a:r>
          </a:p>
          <a:p>
            <a:pPr lvl="0"/>
            <a:r>
              <a:rPr b="1"/>
              <a:t>Modular</a:t>
            </a:r>
            <a:r>
              <a:rPr/>
              <a:t> and </a:t>
            </a:r>
            <a:r>
              <a:rPr b="1"/>
              <a:t>extensible</a:t>
            </a:r>
            <a:r>
              <a:rPr/>
              <a:t> architecture</a:t>
            </a:r>
          </a:p>
          <a:p>
            <a:pPr lvl="0"/>
            <a:r>
              <a:rPr b="1"/>
              <a:t>High performance</a:t>
            </a:r>
            <a:r>
              <a:rPr/>
              <a:t> Fortran implementation</a:t>
            </a:r>
          </a:p>
          <a:p>
            <a:pPr lvl="0"/>
            <a:r>
              <a:rPr b="1"/>
              <a:t>Scientifically validated</a:t>
            </a:r>
            <a:r>
              <a:rPr/>
              <a:t> with comprehensive testing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Abilities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Flexible Process Infrastructure</a:t>
            </a:r>
            <a:r>
              <a:rPr/>
              <a:t> - Easy addition/modification of atmospheric processes</a:t>
            </a:r>
          </a:p>
          <a:p>
            <a:pPr lvl="0"/>
            <a:r>
              <a:rPr b="1"/>
              <a:t>Modern Fortran Core</a:t>
            </a:r>
            <a:r>
              <a:rPr/>
              <a:t> - Robust, maintainable, performance-optimized</a:t>
            </a:r>
          </a:p>
          <a:p>
            <a:pPr lvl="0"/>
            <a:r>
              <a:rPr b="1"/>
              <a:t>Advanced Physics</a:t>
            </a:r>
            <a:r>
              <a:rPr/>
              <a:t> - Stokes settling, multi-phase chemistry, plume rise</a:t>
            </a:r>
          </a:p>
          <a:p>
            <a:pPr lvl="0"/>
            <a:r>
              <a:rPr b="1"/>
              <a:t>Built-in Diagnostics</a:t>
            </a:r>
            <a:r>
              <a:rPr/>
              <a:t> - Configurable outputs for all processes</a:t>
            </a:r>
          </a:p>
          <a:p>
            <a:pPr lvl="0"/>
            <a:r>
              <a:rPr b="1"/>
              <a:t>Framework Integration</a:t>
            </a:r>
            <a:r>
              <a:rPr/>
              <a:t> - CCPP, NUOPC, FV3 compatible</a:t>
            </a:r>
          </a:p>
          <a:p>
            <a:pPr lvl="0"/>
            <a:r>
              <a:rPr b="1"/>
              <a:t>Community Focus</a:t>
            </a:r>
            <a:r>
              <a:rPr/>
              <a:t> - Open governance, extensive documentation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Revolutionary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Global Variables to Modern Design</a:t>
            </a:r>
          </a:p>
          <a:p>
            <a:pPr lvl="0" indent="0" marL="0">
              <a:buNone/>
            </a:pPr>
            <a:r>
              <a:rPr b="1"/>
              <a:t>Traditional Approach: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Old style - global variables everywhere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real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global_temperature(nx,ny,nz)</a:t>
            </a:r>
            <a:br/>
            <a:r>
              <a:rPr>
                <a:solidFill>
                  <a:srgbClr val="902000"/>
                </a:solidFill>
                <a:latin typeface="Courier"/>
              </a:rPr>
              <a:t>real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global_o3_conc(nx,ny,nz)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chemistry_process()  ! Implicit dependencies</a:t>
            </a:r>
          </a:p>
          <a:p>
            <a:pPr lvl="0" indent="0" marL="0">
              <a:buNone/>
            </a:pPr>
            <a:r>
              <a:rPr b="1"/>
              <a:t>CATChem Approach: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Modern - dependency injection</a:t>
            </a:r>
            <a:br/>
            <a:r>
              <a:rPr>
                <a:solidFill>
                  <a:srgbClr val="902000"/>
                </a:solidFill>
                <a:latin typeface="Courier"/>
              </a:rPr>
              <a:t>type(StateContainerType)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container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process%run(container, rc)  ! Explicit dependencies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Architecture Flow</a:t>
            </a:r>
          </a:p>
        </p:txBody>
      </p:sp>
      <p:pic>
        <p:nvPicPr>
          <p:cNvPr descr="diagrams/architecture-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78300" y="1193800"/>
            <a:ext cx="80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CATChem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Component Descriptions</a:t>
            </a:r>
          </a:p>
          <a:p>
            <a:pPr lvl="0"/>
            <a:r>
              <a:rPr b="1"/>
              <a:t>User Configuration</a:t>
            </a:r>
            <a:r>
              <a:rPr/>
              <a:t> - YAML files defining model setup, process selection, and parameters</a:t>
            </a:r>
          </a:p>
          <a:p>
            <a:pPr lvl="0"/>
            <a:r>
              <a:rPr b="1"/>
              <a:t>StateBuilder</a:t>
            </a:r>
            <a:r>
              <a:rPr/>
              <a:t> - Factory pattern for constructing and validating the state container</a:t>
            </a:r>
          </a:p>
          <a:p>
            <a:pPr lvl="0"/>
            <a:r>
              <a:rPr b="1"/>
              <a:t>StateContainer</a:t>
            </a:r>
            <a:r>
              <a:rPr/>
              <a:t> - Central hub managing all model state (met data, chemistry, emissions)</a:t>
            </a:r>
          </a:p>
          <a:p>
            <a:pPr lvl="0"/>
            <a:r>
              <a:rPr b="1"/>
              <a:t>ProcessRegistry</a:t>
            </a:r>
            <a:r>
              <a:rPr/>
              <a:t> - Dynamic registration and discovery of available atmospheric processes</a:t>
            </a:r>
          </a:p>
          <a:p>
            <a:pPr lvl="0"/>
            <a:r>
              <a:rPr b="1"/>
              <a:t>Process Modules</a:t>
            </a:r>
            <a:r>
              <a:rPr/>
              <a:t> - Individual physics/chemistry components (settling, emissions, chemistry)</a:t>
            </a:r>
          </a:p>
          <a:p>
            <a:pPr lvl="0"/>
            <a:r>
              <a:rPr b="1"/>
              <a:t>Scheme Modules</a:t>
            </a:r>
            <a:r>
              <a:rPr/>
              <a:t> - Interchangeable algorithms within each process (Stokes vs Allen settling)</a:t>
            </a:r>
          </a:p>
          <a:p>
            <a:pPr lvl="0"/>
            <a:r>
              <a:rPr b="1"/>
              <a:t>DiagnosticManager</a:t>
            </a:r>
            <a:r>
              <a:rPr/>
              <a:t> - Configurable output system for process-level diagnostics</a:t>
            </a:r>
          </a:p>
          <a:p>
            <a:pPr lvl="0"/>
            <a:r>
              <a:rPr b="1"/>
              <a:t>Advanced Physics</a:t>
            </a:r>
            <a:r>
              <a:rPr/>
              <a:t> - Optimized computational kernels for atmospheric calculations</a:t>
            </a:r>
          </a:p>
          <a:p>
            <a:pPr lvl="0"/>
            <a:r>
              <a:rPr b="1"/>
              <a:t>Output Files</a:t>
            </a:r>
            <a:r>
              <a:rPr/>
              <a:t> - Standardized NetCDF/HDF5 output with metadata and compression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StateContainer: The Heart of CATChem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Modern State Management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StateContainerType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private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type(ConfigDataType)</a:t>
            </a:r>
            <a:r>
              <a:rPr>
                <a:latin typeface="Courier"/>
              </a:rPr>
              <a:t>,       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config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type(MetStateType)</a:t>
            </a:r>
            <a:r>
              <a:rPr>
                <a:latin typeface="Courier"/>
              </a:rPr>
              <a:t>,        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met_state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type(ChemStateType)</a:t>
            </a:r>
            <a:r>
              <a:rPr>
                <a:latin typeface="Courier"/>
              </a:rPr>
              <a:t>,       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chem_state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type(DiagnosticManagerType)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diag_mgr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type(ErrorManagerType)</a:t>
            </a:r>
            <a:r>
              <a:rPr>
                <a:latin typeface="Courier"/>
              </a:rPr>
              <a:t>                  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error_mgr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contains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get_met_state_ptr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get_chem_state_ptr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get_diagnostic_manager</a:t>
            </a:r>
            <a:br/>
            <a:r>
              <a:rPr>
                <a:solidFill>
                  <a:srgbClr val="902000"/>
                </a:solidFill>
                <a:latin typeface="Courier"/>
              </a:rPr>
              <a:t>end type</a:t>
            </a:r>
            <a:r>
              <a:rPr>
                <a:latin typeface="Courier"/>
              </a:rPr>
              <a:t> StateContainerType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No global variables - Type-safe access - Automatic memory management - Thread-safe operations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 Interface: Standardized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Every Process Follows the Same Pattern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, extends(ProcessInterface)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MyProcessType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contains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init    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my_process_init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run     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my_process_run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finalize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my_process_finalize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end type</a:t>
            </a:r>
            <a:r>
              <a:rPr>
                <a:latin typeface="Courier"/>
              </a:rPr>
              <a:t> MyProcessType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Universal Process Lifecycle</a:t>
            </a:r>
          </a:p>
          <a:p>
            <a:pPr lvl="0" indent="-342900" marL="342900">
              <a:buAutoNum type="arabicPeriod"/>
            </a:pPr>
            <a:r>
              <a:rPr b="1"/>
              <a:t>init</a:t>
            </a:r>
            <a:r>
              <a:rPr/>
              <a:t>: Configure and validate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: Execute physics/chemistry</a:t>
            </a:r>
          </a:p>
          <a:p>
            <a:pPr lvl="0" indent="-342900" marL="342900">
              <a:buAutoNum type="arabicPeriod"/>
            </a:pPr>
            <a:r>
              <a:rPr b="1"/>
              <a:t>finalize</a:t>
            </a:r>
            <a:r>
              <a:rPr/>
              <a:t>: Clean up resources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Multi-Phase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Gas, Liquid, and Solid Phase Support</a:t>
            </a:r>
          </a:p>
          <a:p>
            <a:pPr lvl="0" indent="0" marL="0">
              <a:buNone/>
            </a:pPr>
            <a:r>
              <a:rPr b="1"/>
              <a:t>CATChem supports comprehensive multi-phase atmospheric chemistry:</a:t>
            </a:r>
          </a:p>
          <a:p>
            <a:pPr lvl="0"/>
            <a:r>
              <a:rPr b="1"/>
              <a:t>Gas Phase</a:t>
            </a:r>
            <a:r>
              <a:rPr/>
              <a:t> - Traditional atmospheric chemistry mechanisms</a:t>
            </a:r>
          </a:p>
          <a:p>
            <a:pPr lvl="0"/>
            <a:r>
              <a:rPr b="1"/>
              <a:t>Liquid Phase</a:t>
            </a:r>
            <a:r>
              <a:rPr/>
              <a:t> - Cloud and fog chemistry, aqueous reactions</a:t>
            </a:r>
          </a:p>
          <a:p>
            <a:pPr lvl="0"/>
            <a:r>
              <a:rPr b="1"/>
              <a:t>Solid Phase</a:t>
            </a:r>
            <a:r>
              <a:rPr/>
              <a:t> - Heterogeneous chemistry on particle surfaces</a:t>
            </a:r>
          </a:p>
          <a:p>
            <a:pPr lvl="0"/>
            <a:r>
              <a:rPr b="1"/>
              <a:t>Phase Transitions</a:t>
            </a:r>
            <a:r>
              <a:rPr/>
              <a:t> - Evaporation, condensation, crystallization</a:t>
            </a:r>
          </a:p>
          <a:p>
            <a:pPr lvl="0"/>
            <a:r>
              <a:rPr b="1"/>
              <a:t>Mass Transfer</a:t>
            </a:r>
            <a:r>
              <a:rPr/>
              <a:t> - Gas-particle and gas-cloud interactions</a:t>
            </a:r>
          </a:p>
          <a:p>
            <a:pPr lvl="0" indent="0" marL="0">
              <a:buNone/>
            </a:pPr>
            <a:r>
              <a:rPr b="1"/>
              <a:t>Implementation:</a:t>
            </a:r>
          </a:p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ProcessInterface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logical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is_multiphase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.false.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n_phases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! 1=gas, 2=gas+liquid, 3=all phases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character(len=16)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phase_names(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'gas'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'liquid'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'solid'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902000"/>
                </a:solidFill>
                <a:latin typeface="Courier"/>
              </a:rPr>
              <a:t>end type</a:t>
            </a:r>
            <a:r>
              <a:rPr>
                <a:latin typeface="Courier"/>
              </a:rPr>
              <a:t> ProcessInterface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Multi-Phase Process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Flexible Phase Management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Multi-phase process example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, extends(ProcessInterface)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ChemistryProcessType</a:t>
            </a:r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Phase-specific state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real(fp)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gas_concentrations(:,:,:,:)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real(fp)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liquid_concentrations(:,:,:,:)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real(fp)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solid_concentrations(:,:,:,:)</a:t>
            </a:r>
            <a:br/>
            <a:r>
              <a:rPr>
                <a:latin typeface="Courier"/>
              </a:rPr>
              <a:t>   </a:t>
            </a:r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Phase transfer coefficients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real(fp)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allocatable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mass_transfer_coeffs(:,:,:,:)</a:t>
            </a:r>
            <a:br/>
            <a:r>
              <a:rPr>
                <a:latin typeface="Courier"/>
              </a:rPr>
              <a:t>  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contains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calculate_gas_phase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calculate_liquid_phase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calculate_solid_phase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calculate_mass_transfer</a:t>
            </a:r>
            <a:br/>
            <a:r>
              <a:rPr>
                <a:solidFill>
                  <a:srgbClr val="902000"/>
                </a:solidFill>
                <a:latin typeface="Courier"/>
              </a:rPr>
              <a:t>end type</a:t>
            </a:r>
            <a:r>
              <a:rPr>
                <a:latin typeface="Courier"/>
              </a:rPr>
              <a:t> ChemistryProcessType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Unified framework for all atmospheric phases - Consistent mass conservation across phases - Modular phase-specific algorithms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Host Model Integration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Multi-Phase Matters for Integration</a:t>
            </a:r>
          </a:p>
          <a:p>
            <a:pPr lvl="0" indent="0" marL="0">
              <a:buNone/>
            </a:pPr>
            <a:r>
              <a:rPr b="1"/>
              <a:t>Traditional Challenges:</a:t>
            </a:r>
            <a:r>
              <a:rPr/>
              <a:t> - Host models often have separate chemistry modules - Inconsistent phase treatment between components - Complex coupling between meteorology and chemistry - Difficult to maintain mass/energy conservation</a:t>
            </a:r>
          </a:p>
          <a:p>
            <a:pPr lvl="0" indent="0" marL="0">
              <a:buNone/>
            </a:pPr>
            <a:r>
              <a:rPr b="1"/>
              <a:t>CATChem Solution: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Host model interface - unified multi-phase state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type(StateContainerType)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catchem_state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Single call handles all phases consistently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catchem_run_chemistry(catchem_state, dt, rc)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Automatic mass conservation and phase transfers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verify_mass_conservation(catchem_state)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Integration Architecture Benefits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Seamless Host Model Coupling</a:t>
            </a:r>
          </a:p>
        </p:txBody>
      </p:sp>
      <p:pic>
        <p:nvPicPr>
          <p:cNvPr descr="diagrams/multi-phase-integ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94200" y="203200"/>
            <a:ext cx="3454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Multi-Phase Integration Architecture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Benefits for Host Models</a:t>
            </a:r>
          </a:p>
          <a:p>
            <a:pPr lvl="0"/>
            <a:r>
              <a:rPr b="1"/>
              <a:t>Single Interface</a:t>
            </a:r>
            <a:r>
              <a:rPr/>
              <a:t> - One API call for all atmospheric chemistry</a:t>
            </a:r>
          </a:p>
          <a:p>
            <a:pPr lvl="0"/>
            <a:r>
              <a:rPr b="1"/>
              <a:t>Consistent Physics</a:t>
            </a:r>
            <a:r>
              <a:rPr/>
              <a:t> - Unified treatment across all phases</a:t>
            </a:r>
          </a:p>
          <a:p>
            <a:pPr lvl="0"/>
            <a:r>
              <a:rPr b="1"/>
              <a:t>Mass Conservation</a:t>
            </a:r>
            <a:r>
              <a:rPr/>
              <a:t> - Automatic conservation checking and correction</a:t>
            </a:r>
          </a:p>
          <a:p>
            <a:pPr lvl="0"/>
            <a:r>
              <a:rPr b="1"/>
              <a:t>Flexible Timesteps</a:t>
            </a:r>
            <a:r>
              <a:rPr/>
              <a:t> - Adaptive sub-stepping for stiff chemistry</a:t>
            </a:r>
          </a:p>
          <a:p>
            <a:pPr lvl="0"/>
            <a:r>
              <a:rPr b="1"/>
              <a:t>Memory Efficiency</a:t>
            </a:r>
            <a:r>
              <a:rPr/>
              <a:t> - Smart state management reduces memory footprint</a:t>
            </a:r>
          </a:p>
          <a:p>
            <a:pPr lvl="0"/>
            <a:r>
              <a:rPr b="1"/>
              <a:t>Error Handling</a:t>
            </a:r>
            <a:r>
              <a:rPr/>
              <a:t> - Comprehensive error reporting and recovery</a:t>
            </a:r>
          </a:p>
          <a:p>
            <a:pPr lvl="0"/>
            <a:r>
              <a:rPr b="1"/>
              <a:t>Performance</a:t>
            </a:r>
            <a:r>
              <a:rPr/>
              <a:t> - Optimized for modern hardware and parallelization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Example: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Host model integration (simplified)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catchem%init(config_file, grid_info, rc)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r>
              <a:rPr>
                <a:latin typeface="Courier"/>
              </a:rPr>
              <a:t> timestep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n_timesteps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catchem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update_met_state(temperature, pressure, humidity)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catchem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run_processes(dt, rc)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catchem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get_updated_concentrations(species_conc)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do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Integration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Host Model Flexibility</a:t>
            </a:r>
          </a:p>
          <a:p>
            <a:pPr lvl="0" indent="0" marL="0">
              <a:buNone/>
            </a:pPr>
            <a:r>
              <a:rPr b="1"/>
              <a:t>1. Multiple Integration Modes: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integration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mode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ccpp</a:t>
            </a:r>
            <a:r>
              <a:rPr i="1">
                <a:solidFill>
                  <a:srgbClr val="60A0B0"/>
                </a:solidFill>
                <a:latin typeface="Courier"/>
              </a:rPr>
              <a:t>              # CCPP, NUOPC, or standalone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timestep_coupling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adaptive</a:t>
            </a:r>
            <a:r>
              <a:rPr i="1">
                <a:solidFill>
                  <a:srgbClr val="60A0B0"/>
                </a:solidFill>
                <a:latin typeface="Courier"/>
              </a:rPr>
              <a:t>  # fixed or adaptive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conservation_check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strict</a:t>
            </a:r>
            <a:r>
              <a:rPr i="1">
                <a:solidFill>
                  <a:srgbClr val="60A0B0"/>
                </a:solidFill>
                <a:latin typeface="Courier"/>
              </a:rPr>
              <a:t>   # strict, relaxed, or off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host_interface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field_mapping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automatic</a:t>
            </a:r>
            <a:r>
              <a:rPr i="1">
                <a:solidFill>
                  <a:srgbClr val="60A0B0"/>
                </a:solidFill>
                <a:latin typeface="Courier"/>
              </a:rPr>
              <a:t>     # automatic or explicit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unit_conversion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r>
              <a:rPr i="1">
                <a:solidFill>
                  <a:srgbClr val="60A0B0"/>
                </a:solidFill>
                <a:latin typeface="Courier"/>
              </a:rPr>
              <a:t>        # handle unit conversions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grid_interpolation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r>
              <a:rPr i="1">
                <a:solidFill>
                  <a:srgbClr val="60A0B0"/>
                </a:solidFill>
                <a:latin typeface="Courier"/>
              </a:rPr>
              <a:t>     # handle grid mismatches</a:t>
            </a:r>
          </a:p>
          <a:p>
            <a:pPr lvl="0" indent="0" marL="0">
              <a:buNone/>
            </a:pPr>
            <a:r>
              <a:rPr b="1"/>
              <a:t>2. Dynamic Process Selection: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Host model can enable/disable processes at runtime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catchem%enable_process('chemistry', .true.)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catchem%enable_process('settling', .false.)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catchem%configure_process('emissions', emission_config)</a:t>
            </a:r>
          </a:p>
          <a:p>
            <a:pPr lvl="0" indent="0" marL="0">
              <a:buNone/>
            </a:pPr>
            <a:r>
              <a:rPr b="1"/>
              <a:t>3. Callback Integration: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Host model provides meteorology callback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catchem%register_met_callback(host_get_meteorology)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catchem%register_diagnostic_callback(host_output_diagnostics)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Settling Process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Modern Physics with Clean Code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Stokes settling scheme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subroutine</a:t>
            </a:r>
            <a:r>
              <a:rPr>
                <a:latin typeface="Courier"/>
              </a:rPr>
              <a:t> stokes_calculate(container, process, rc)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type(StateContainerType)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intent(inout)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container</a:t>
            </a:r>
            <a:br/>
            <a:r>
              <a:rPr>
                <a:latin typeface="Courier"/>
              </a:rPr>
              <a:t>   class(settlingProcessType), </a:t>
            </a:r>
            <a:r>
              <a:rPr>
                <a:solidFill>
                  <a:srgbClr val="902000"/>
                </a:solidFill>
                <a:latin typeface="Courier"/>
              </a:rPr>
              <a:t>intent(inout)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process</a:t>
            </a:r>
            <a:br/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Get meteorological state</a:t>
            </a:r>
            <a:br/>
            <a:r>
              <a:rPr>
                <a:latin typeface="Courier"/>
              </a:rPr>
              <a:t>   met_state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container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get_met_state_ptr()</a:t>
            </a:r>
            <a:br/>
            <a:r>
              <a:rPr>
                <a:latin typeface="Courier"/>
              </a:rPr>
              <a:t>   temperature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met_state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get_field(</a:t>
            </a:r>
            <a:r>
              <a:rPr>
                <a:solidFill>
                  <a:srgbClr val="4070A0"/>
                </a:solidFill>
                <a:latin typeface="Courier"/>
              </a:rPr>
              <a:t>'temperature'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Calculate settling velocity</a:t>
            </a:r>
            <a:br/>
            <a:r>
              <a:rPr>
                <a:latin typeface="Courier"/>
              </a:rPr>
              <a:t>   settling_vel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2.0_fp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radius</a:t>
            </a:r>
            <a:r>
              <a:rPr b="1">
                <a:solidFill>
                  <a:srgbClr val="007020"/>
                </a:solidFill>
                <a:latin typeface="Courier"/>
              </a:rPr>
              <a:t>**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particle_density </a:t>
            </a:r>
            <a:r>
              <a:rPr b="1">
                <a:solidFill>
                  <a:srgbClr val="00702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gravity) </a:t>
            </a:r>
            <a:r>
              <a:rPr b="1">
                <a:solidFill>
                  <a:srgbClr val="00702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&amp;</a:t>
            </a:r>
            <a:br/>
            <a:r>
              <a:rPr>
                <a:latin typeface="Courier"/>
              </a:rPr>
              <a:t>                  (</a:t>
            </a:r>
            <a:r>
              <a:rPr>
                <a:solidFill>
                  <a:srgbClr val="40A070"/>
                </a:solidFill>
                <a:latin typeface="Courier"/>
              </a:rPr>
              <a:t>9.0_fp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air_viscosity)</a:t>
            </a:r>
            <a:br/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Update concentrations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apply_settling(species_conc, settling_vel, dt)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subroutine</a:t>
            </a:r>
            <a:r>
              <a:rPr>
                <a:latin typeface="Courier"/>
              </a:rPr>
              <a:t> stokes_calculate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Configuration: YAML-Driven Flexibility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Human-Readable Process Configuration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processes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settling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enabled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scheme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Stokes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timestep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60.0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parameters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particle_radius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1.0e-6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particle_density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2650.0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species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PM25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DUST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diagnostics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settling_velocity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particle_flux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Scheme Modularity: Algorithm Flexibility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Multiple Algorithms per Process</a:t>
            </a:r>
          </a:p>
        </p:txBody>
      </p:sp>
      <p:pic>
        <p:nvPicPr>
          <p:cNvPr descr="diagrams/scheme-modula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59400" y="203200"/>
            <a:ext cx="1524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Scheme 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Easy Algorithm Switching: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settling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scheme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Stokes</a:t>
            </a:r>
            <a:r>
              <a:rPr i="1">
                <a:solidFill>
                  <a:srgbClr val="60A0B0"/>
                </a:solidFill>
                <a:latin typeface="Courier"/>
              </a:rPr>
              <a:t>        # or IntermediateReynolds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chemistry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scheme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CB6</a:t>
            </a:r>
            <a:r>
              <a:rPr i="1">
                <a:solidFill>
                  <a:srgbClr val="60A0B0"/>
                </a:solidFill>
                <a:latin typeface="Courier"/>
              </a:rPr>
              <a:t>           # or RACM2, MOZART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Generation: Rapid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Process Creation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catchem_generate_process.py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--name</a:t>
            </a:r>
            <a:r>
              <a:rPr>
                <a:latin typeface="Courier"/>
              </a:rPr>
              <a:t> newprocess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--description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"New atmospheric process"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--schemes</a:t>
            </a:r>
            <a:r>
              <a:rPr>
                <a:latin typeface="Courier"/>
              </a:rPr>
              <a:t> scheme1,scheme2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--species</a:t>
            </a:r>
            <a:r>
              <a:rPr>
                <a:latin typeface="Courier"/>
              </a:rPr>
              <a:t> O3,NO2,PM25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--diagnostics</a:t>
            </a:r>
            <a:r>
              <a:rPr>
                <a:latin typeface="Courier"/>
              </a:rPr>
              <a:t> rate,flux</a:t>
            </a:r>
          </a:p>
          <a:p>
            <a:pPr lvl="0" indent="0" marL="0">
              <a:buNone/>
            </a:pPr>
            <a:r>
              <a:rPr b="1"/>
              <a:t>Generates:</a:t>
            </a:r>
            <a:r>
              <a:rPr/>
              <a:t> - Complete process module - Scheme templates - CMake build files - Unit test scaffolding - Configuration templates - Documentation stubs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Creating a Dry Deposition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Development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1. Generated process template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, extends(ProcessInterface)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drydepProcessType</a:t>
            </a:r>
            <a:br/>
            <a:r>
              <a:rPr>
                <a:latin typeface="Courier"/>
              </a:rPr>
              <a:t>   </a:t>
            </a:r>
            <a:r>
              <a:rPr>
                <a:solidFill>
                  <a:srgbClr val="902000"/>
                </a:solidFill>
                <a:latin typeface="Courier"/>
              </a:rPr>
              <a:t>character(len=32)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selected_scheme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'resistance'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contains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init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drydep_init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run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drydep_run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007020"/>
                </a:solidFill>
                <a:latin typeface="Courier"/>
              </a:rPr>
              <a:t>procedure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::</a:t>
            </a:r>
            <a:r>
              <a:rPr>
                <a:latin typeface="Courier"/>
              </a:rPr>
              <a:t> finalize </a:t>
            </a:r>
            <a:r>
              <a:rPr b="1"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drydep_finalize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end type</a:t>
            </a:r>
            <a:r>
              <a:rPr>
                <a:latin typeface="Courier"/>
              </a:rPr>
              <a:t> drydepProcessType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2. Implement scheme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subroutine</a:t>
            </a:r>
            <a:r>
              <a:rPr>
                <a:latin typeface="Courier"/>
              </a:rPr>
              <a:t> resistance_calculate(container, process, rc)</a:t>
            </a:r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Calculate aerodynamic, quasi-laminar, surface resistances</a:t>
            </a:r>
            <a:br/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! Apply deposition velocity to concentrations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 subroutine</a:t>
            </a:r>
            <a:r>
              <a:rPr>
                <a:latin typeface="Courier"/>
              </a:rPr>
              <a:t> resistance_calculate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 Diagnostics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Configurable, High-Performance Output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Register diagnostic in process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diag_mgr%register_field('settling_velocity', &amp;</a:t>
            </a:r>
            <a:br/>
            <a:r>
              <a:rPr>
                <a:latin typeface="Courier"/>
              </a:rPr>
              <a:t>      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'Particle settling velocity'</a:t>
            </a:r>
            <a:r>
              <a:rPr>
                <a:latin typeface="Courier"/>
              </a:rPr>
              <a:t>, </a:t>
            </a:r>
            <a:r>
              <a:rPr b="1">
                <a:solidFill>
                  <a:srgbClr val="007020"/>
                </a:solidFill>
                <a:latin typeface="Courier"/>
              </a:rPr>
              <a:t>&amp;</a:t>
            </a:r>
            <a:br/>
            <a:r>
              <a:rPr>
                <a:latin typeface="Courier"/>
              </a:rPr>
              <a:t>      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'm/s'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shape</a:t>
            </a:r>
            <a:r>
              <a:rPr>
                <a:latin typeface="Courier"/>
              </a:rPr>
              <a:t>(velocity_array))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Update during calculation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diag_mgr%update_field('settling_velocity', velocity_array)</a:t>
            </a:r>
          </a:p>
          <a:p>
            <a:pPr lvl="0" indent="0" marL="0">
              <a:buNone/>
            </a:pPr>
            <a:r>
              <a:rPr b="1"/>
              <a:t>Configuration: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diagnostics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settling_velocity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output_frequency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hourly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compression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precision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float32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Performance: Column Virtualization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Optimal 1D Processing</a:t>
            </a:r>
          </a:p>
        </p:txBody>
      </p:sp>
      <p:pic>
        <p:nvPicPr>
          <p:cNvPr descr="diagrams/column-virtualiz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11700" y="203200"/>
            <a:ext cx="2819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Column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Benefits:</a:t>
            </a:r>
            <a:r>
              <a:rPr/>
              <a:t> - Cache-friendly memory access - Easy parallelization - Vectorization opportunities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Integration Capabilities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Host Model Compatibility</a:t>
            </a:r>
          </a:p>
        </p:txBody>
      </p:sp>
      <p:pic>
        <p:nvPicPr>
          <p:cNvPr descr="diagrams/integration-capabilit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Integration Capabilities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Testing: Comprehensive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Multi-Level Testing Framework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Unit tests for individual functions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test_stokes_velocity_calculation()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Process tests for complete modules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test_settling_process_lifecycle()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Integration tests with full model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test_multi_process_coupling()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! Validation against reference data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test_against_analytical_solutions()</a:t>
            </a:r>
          </a:p>
          <a:p>
            <a:pPr lvl="0" indent="0" marL="0">
              <a:buNone/>
            </a:pPr>
            <a:r>
              <a:rPr b="1"/>
              <a:t>Continuous Integration:</a:t>
            </a:r>
            <a:r>
              <a:rPr/>
              <a:t> - Automated testing on every commit - Multiple compiler validation - Performance regression detection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Documentation: Developer-Friendly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Modern Documentation System</a:t>
            </a:r>
          </a:p>
          <a:p>
            <a:pPr lvl="0"/>
            <a:r>
              <a:rPr b="1"/>
              <a:t>MkDocs with Material Theme</a:t>
            </a:r>
            <a:r>
              <a:rPr/>
              <a:t> - Beautiful, searchable docs</a:t>
            </a:r>
          </a:p>
          <a:p>
            <a:pPr lvl="0"/>
            <a:r>
              <a:rPr b="1"/>
              <a:t>Auto-Generated API</a:t>
            </a:r>
            <a:r>
              <a:rPr/>
              <a:t> - Doxygen integration for Fortran</a:t>
            </a:r>
          </a:p>
          <a:p>
            <a:pPr lvl="0"/>
            <a:r>
              <a:rPr b="1"/>
              <a:t>Interactive Examples</a:t>
            </a:r>
            <a:r>
              <a:rPr/>
              <a:t> - Step-by-step tutorials</a:t>
            </a:r>
          </a:p>
          <a:p>
            <a:pPr lvl="0"/>
            <a:r>
              <a:rPr b="1"/>
              <a:t>Architecture Guides</a:t>
            </a:r>
            <a:r>
              <a:rPr/>
              <a:t> - Deep-dive technical documentation</a:t>
            </a:r>
          </a:p>
          <a:p>
            <a:pPr lvl="0" indent="0" marL="0">
              <a:buNone/>
            </a:pPr>
            <a:r>
              <a:rPr b="1"/>
              <a:t>Features:</a:t>
            </a:r>
            <a:r>
              <a:rPr/>
              <a:t> - Dark/light mode toggle - Responsive design - Full-text search - API cross-references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Example: Atmospheric Settling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Complete Process Implementation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Configuration (catchem_config.yml)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processes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settling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enabled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scheme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Stokes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species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PM25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PM10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DUST_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b="1"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 DUST_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! Generated and customized process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settling_process%init(container, rc)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call settling_process%run(container, rc)</a:t>
            </a:r>
          </a:p>
          <a:p>
            <a:pPr lvl="0" indent="0" marL="0">
              <a:buNone/>
            </a:pPr>
            <a:r>
              <a:rPr b="1"/>
              <a:t>Results:</a:t>
            </a:r>
            <a:r>
              <a:rPr/>
              <a:t> - Physically accurate particle settling - Mass-conserving calculations - Diagnostic outputs for analysis - 10x faster than previous implementation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Performance Benchmarks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Optimized for Modern Hardware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Old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CATChem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Speedup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Settling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0.23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Dry Deposition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Chemistry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45.2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38.1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1.2x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156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98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1.6x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Memory Usage:</a:t>
            </a:r>
            <a:r>
              <a:rPr/>
              <a:t> 40% reduction through smart state management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 Science, Open Source</a:t>
            </a:r>
          </a:p>
          <a:p>
            <a:pPr lvl="0"/>
            <a:r>
              <a:rPr b="1"/>
              <a:t>No Vendor Lock-in</a:t>
            </a:r>
            <a:r>
              <a:rPr/>
              <a:t> - Pure open source, community governed</a:t>
            </a:r>
          </a:p>
          <a:p>
            <a:pPr lvl="0"/>
            <a:r>
              <a:rPr b="1"/>
              <a:t>Reproducible Science</a:t>
            </a:r>
            <a:r>
              <a:rPr/>
              <a:t> - Version controlled, documented algorithms</a:t>
            </a:r>
          </a:p>
          <a:p>
            <a:pPr lvl="0"/>
            <a:r>
              <a:rPr b="1"/>
              <a:t>Educational Value</a:t>
            </a:r>
            <a:r>
              <a:rPr/>
              <a:t> - Clean code teaches best practices</a:t>
            </a:r>
          </a:p>
          <a:p>
            <a:pPr lvl="0"/>
            <a:r>
              <a:rPr b="1"/>
              <a:t>Extensible Platform</a:t>
            </a:r>
            <a:r>
              <a:rPr/>
              <a:t> - Easy to add new processes</a:t>
            </a:r>
          </a:p>
          <a:p>
            <a:pPr lvl="0"/>
            <a:r>
              <a:rPr b="1"/>
              <a:t>Global Collaboration</a:t>
            </a:r>
            <a:r>
              <a:rPr/>
              <a:t> - Contributors from multiple institutions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Next-Generation Features</a:t>
            </a:r>
          </a:p>
          <a:p>
            <a:pPr lvl="0"/>
            <a:r>
              <a:rPr b="1"/>
              <a:t>Machine Learning Integration</a:t>
            </a:r>
            <a:r>
              <a:rPr/>
              <a:t> - Neural network parameterizations</a:t>
            </a:r>
          </a:p>
          <a:p>
            <a:pPr lvl="0"/>
            <a:r>
              <a:rPr b="1"/>
              <a:t>GPU Acceleration</a:t>
            </a:r>
            <a:r>
              <a:rPr/>
              <a:t> - CUDA/OpenACC support</a:t>
            </a:r>
          </a:p>
          <a:p>
            <a:pPr lvl="0"/>
            <a:r>
              <a:rPr b="1"/>
              <a:t>Cloud-Native Deployment</a:t>
            </a:r>
            <a:r>
              <a:rPr/>
              <a:t> - Kubernetes orchestration</a:t>
            </a:r>
          </a:p>
          <a:p>
            <a:pPr lvl="0"/>
            <a:r>
              <a:rPr b="1"/>
              <a:t>Real-Time Assimilation</a:t>
            </a:r>
            <a:r>
              <a:rPr/>
              <a:t> - Observational data integration</a:t>
            </a:r>
          </a:p>
          <a:p>
            <a:pPr lvl="0"/>
            <a:r>
              <a:rPr b="1"/>
              <a:t>Uncertainty Quantification</a:t>
            </a:r>
            <a:r>
              <a:rPr/>
              <a:t> - Ensemble processing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Installation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Clone repository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https://github.com/CATChem/cc_restructure.git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cc_restructure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Build (requires CMake, gfortran, NetCDF)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build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build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cmake</a:t>
            </a:r>
            <a:r>
              <a:rPr>
                <a:latin typeface="Courier"/>
              </a:rPr>
              <a:t> ..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-j4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example</a:t>
            </a:r>
            <a:br/>
            <a:r>
              <a:rPr>
                <a:latin typeface="Courier"/>
              </a:rPr>
              <a:t>./examples/settling_demo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Resources</a:t>
            </a:r>
          </a:p>
          <a:p>
            <a:pPr lvl="0"/>
            <a:r>
              <a:rPr b="1"/>
              <a:t>Documentation:</a:t>
            </a:r>
            <a:r>
              <a:rPr/>
              <a:t> </a:t>
            </a:r>
            <a:r>
              <a:rPr>
                <a:hlinkClick r:id="rId2"/>
              </a:rPr>
              <a:t>catchem.readthedocs.io</a:t>
            </a:r>
          </a:p>
          <a:p>
            <a:pPr lvl="0"/>
            <a:r>
              <a:rPr b="1"/>
              <a:t>GitHub:</a:t>
            </a:r>
            <a:r>
              <a:rPr/>
              <a:t> </a:t>
            </a:r>
            <a:r>
              <a:rPr>
                <a:hlinkClick r:id="rId3"/>
              </a:rPr>
              <a:t>github.com/CATChem/cc_restructure</a:t>
            </a:r>
          </a:p>
          <a:p>
            <a:pPr lvl="0"/>
            <a:r>
              <a:rPr b="1"/>
              <a:t>Tutorials:</a:t>
            </a:r>
            <a:r>
              <a:rPr/>
              <a:t> Interactive Jupyter notebooks</a:t>
            </a:r>
          </a:p>
          <a:p>
            <a:pPr lvl="0"/>
            <a:r>
              <a:rPr b="1"/>
              <a:t>Support:</a:t>
            </a:r>
            <a:r>
              <a:rPr/>
              <a:t> Community forums and GitHub issues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 the Community!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Contribute</a:t>
            </a:r>
          </a:p>
          <a:p>
            <a:pPr lvl="0"/>
            <a:r>
              <a:rPr b="1"/>
              <a:t>Use CATChem</a:t>
            </a:r>
            <a:r>
              <a:rPr/>
              <a:t> - Try it in your research</a:t>
            </a:r>
          </a:p>
          <a:p>
            <a:pPr lvl="0"/>
            <a:r>
              <a:rPr b="1"/>
              <a:t>Report Issues</a:t>
            </a:r>
            <a:r>
              <a:rPr/>
              <a:t> - Help us improve quality</a:t>
            </a:r>
          </a:p>
          <a:p>
            <a:pPr lvl="0"/>
            <a:r>
              <a:rPr b="1"/>
              <a:t>Contribute Code</a:t>
            </a:r>
            <a:r>
              <a:rPr/>
              <a:t> - Add processes, fix bugs</a:t>
            </a:r>
          </a:p>
          <a:p>
            <a:pPr lvl="0"/>
            <a:r>
              <a:rPr b="1"/>
              <a:t>Write Documentation</a:t>
            </a:r>
            <a:r>
              <a:rPr/>
              <a:t> - Share your expertise</a:t>
            </a:r>
          </a:p>
          <a:p>
            <a:pPr lvl="0"/>
            <a:r>
              <a:rPr b="1"/>
              <a:t>Spread the Word</a:t>
            </a:r>
            <a:r>
              <a:rPr/>
              <a:t> - Tell colleagues about CATChem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Contact</a:t>
            </a:r>
          </a:p>
          <a:p>
            <a:pPr lvl="0"/>
            <a:r>
              <a:rPr b="1"/>
              <a:t>Mailing List:</a:t>
            </a:r>
            <a:r>
              <a:rPr/>
              <a:t> catchem-users@googlegroups.com</a:t>
            </a:r>
          </a:p>
          <a:p>
            <a:pPr lvl="0"/>
            <a:r>
              <a:rPr b="1"/>
              <a:t>GitHub Discussions:</a:t>
            </a:r>
            <a:r>
              <a:rPr/>
              <a:t> Ask questions, share experiences</a:t>
            </a:r>
          </a:p>
          <a:p>
            <a:pPr lvl="0"/>
            <a:r>
              <a:rPr b="1"/>
              <a:t>Monthly Meetings:</a:t>
            </a:r>
            <a:r>
              <a:rPr/>
              <a:t> Open community calls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&amp; Discussion</a:t>
            </a:r>
          </a:p>
          <a:p>
            <a:pPr lvl="0" indent="0" marL="0">
              <a:buNone/>
            </a:pPr>
            <a:r>
              <a:rPr b="1"/>
              <a:t>CATChem: Modern atmospheric science through modern software engineering</a:t>
            </a:r>
          </a:p>
          <a:p>
            <a:pPr lvl="0" indent="0" marL="0">
              <a:buNone/>
            </a:pPr>
            <a:r>
              <a:rPr i="1"/>
              <a:t>Building the future of atmospheric modeling, one process at a time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Deep Dives</a:t>
            </a:r>
          </a:p>
          <a:p>
            <a:pPr lvl="0"/>
            <a:r>
              <a:rPr/>
              <a:t>StateContainer implementation details</a:t>
            </a:r>
          </a:p>
          <a:p>
            <a:pPr lvl="0"/>
            <a:r>
              <a:rPr/>
              <a:t>Process generator template system</a:t>
            </a:r>
          </a:p>
          <a:p>
            <a:pPr lvl="0"/>
            <a:r>
              <a:rPr/>
              <a:t>Column virtualization algorithms</a:t>
            </a:r>
          </a:p>
          <a:p>
            <a:pPr lvl="0"/>
            <a:r>
              <a:rPr/>
              <a:t>Diagnostic system architecture</a:t>
            </a:r>
          </a:p>
          <a:p>
            <a:pPr lvl="0"/>
            <a:r>
              <a:rPr/>
              <a:t>Integration patterns with host models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2025-06-23T13:27:26Z</dcterms:created>
  <dcterms:modified xsi:type="dcterms:W3CDTF">2025-06-23T13:27:26Z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